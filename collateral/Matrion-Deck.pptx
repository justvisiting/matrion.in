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urier New"/>
              </a:rPr>
              <a:t>MATRION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0AA"/>
                </a:solidFill>
                <a:latin typeface="Courier New"/>
              </a:rPr>
              <a:t>AGENTIC AI SYSTEMS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326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0">
                <a:solidFill>
                  <a:srgbClr val="FFFFFF"/>
                </a:solidFill>
                <a:latin typeface="Georgia"/>
              </a:rPr>
              <a:t>Agents that do the work.</a:t>
            </a:r>
          </a:p>
          <a:p>
            <a:pPr algn="l">
              <a:lnSpc>
                <a:spcPct val="105000"/>
              </a:lnSpc>
            </a:pPr>
            <a:r>
              <a:rPr sz="4600" b="0">
                <a:solidFill>
                  <a:srgbClr val="9AA0AA"/>
                </a:solidFill>
                <a:latin typeface="Georgia"/>
              </a:rPr>
              <a:t>Not demos that describe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074920"/>
            <a:ext cx="10637215" cy="9525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0AA"/>
                </a:solidFill>
                <a:latin typeface="Arial"/>
              </a:rPr>
              <a:t>Production-grade agentic systems — grounded in your data, connected to your tools, evaluated before they ship, and operated by engineers embedded inside your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A"/>
                </a:solidFill>
                <a:latin typeface="Courier New"/>
              </a:rPr>
              <a:t>matrion.in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757F"/>
                </a:solidFill>
                <a:latin typeface="Courier New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>
                <a:solidFill>
                  <a:srgbClr val="12151A"/>
                </a:solidFill>
                <a:latin typeface="Georgia"/>
              </a:rPr>
              <a:t>Capability is not the constraint.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6800" b="0">
                <a:solidFill>
                  <a:srgbClr val="1F3DE0"/>
                </a:solidFill>
                <a:latin typeface="Georgia"/>
              </a:rPr>
              <a:t>40%+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3A4048"/>
                </a:solidFill>
                <a:latin typeface="Arial"/>
              </a:rPr>
              <a:t>of agentic AI projects will be cancelled by the end of 2027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E757F"/>
                </a:solidFill>
                <a:latin typeface="Courier New"/>
              </a:rPr>
              <a:t>Gartner, June 2025 — reaffirmed in industry coverage through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69748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3A4048"/>
                </a:solidFill>
                <a:latin typeface="Arial"/>
              </a:rPr>
              <a:t>Gartner attributes the cancellations to: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12151A"/>
                </a:solidFill>
                <a:latin typeface="Georgia"/>
              </a:rPr>
              <a:t>Escalating costs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12151A"/>
                </a:solidFill>
                <a:latin typeface="Georgia"/>
              </a:rPr>
              <a:t>Unclear business value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500" b="0">
                <a:solidFill>
                  <a:srgbClr val="12151A"/>
                </a:solidFill>
                <a:latin typeface="Georgia"/>
              </a:rPr>
              <a:t>Inadequate risk controls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3A4048"/>
                </a:solidFill>
                <a:latin typeface="Arial"/>
              </a:rPr>
              <a:t>Model capability is not on that list. These are delivery and governance failures — which is exactly where we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matrion.in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757F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757F"/>
                </a:solidFill>
                <a:latin typeface="Courier New"/>
              </a:rPr>
              <a:t>02 / WHAT YOU 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12151A"/>
                </a:solidFill>
                <a:latin typeface="Georgia"/>
              </a:rPr>
              <a:t>Agents that take real work off your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A4048"/>
                </a:solidFill>
                <a:latin typeface="Arial"/>
              </a:rPr>
              <a:t>Not another chat interface. Agents that understand a goal, plan the work, call your tools and finish the job inside your operations — so throughput stops being a function of headcount.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788920"/>
            <a:ext cx="324612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535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DE0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278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12151A"/>
                </a:solidFill>
                <a:latin typeface="Georgia"/>
              </a:rPr>
              <a:t>Autonomous workflows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Goal-driven agents that decompose work, coordinate steps and adapt — within clear boundaries and approvals.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2788920"/>
            <a:ext cx="324612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29535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DE0"/>
                </a:solidFill>
                <a:latin typeface="Courier New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2278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12151A"/>
                </a:solidFill>
                <a:latin typeface="Georgia"/>
              </a:rPr>
              <a:t>Enterprise RAG &amp; grounding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Retrieval, citations, permissions and context controls that reduce hallucination and improve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7576" y="2788920"/>
            <a:ext cx="324612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7576" y="29535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DE0"/>
                </a:solidFill>
                <a:latin typeface="Courier New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6" y="32278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12151A"/>
                </a:solidFill>
                <a:latin typeface="Georgia"/>
              </a:rPr>
              <a:t>Human-agent collaboration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Approval gates, escalation paths and role-aware experiences that keep people in control.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389120"/>
            <a:ext cx="324612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537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DE0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12151A"/>
                </a:solidFill>
                <a:latin typeface="Georgia"/>
              </a:rPr>
              <a:t>Multi-agent orchestration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Specialist agents that delegate, share context and coordinate across end-to-end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4389120"/>
            <a:ext cx="324612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45537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DE0"/>
                </a:solidFill>
                <a:latin typeface="Courier New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8280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12151A"/>
                </a:solidFill>
                <a:latin typeface="Georgia"/>
              </a:rPr>
              <a:t>Evaluation &amp; observability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Traceable decisions, quality evals, cost and latency controls, monitoring from day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7576" y="4389120"/>
            <a:ext cx="324612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6" y="45537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DE0"/>
                </a:solidFill>
                <a:latin typeface="Courier New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6" y="48280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12151A"/>
                </a:solidFill>
                <a:latin typeface="Georgia"/>
              </a:rPr>
              <a:t>Tools, actions &amp; guardrails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Safe connections to APIs and applications, with policy checks and failure handling.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matrion.in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757F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A0AA"/>
                </a:solidFill>
                <a:latin typeface="Courier New"/>
              </a:rPr>
              <a:t>03 / HOW WE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5623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0">
                <a:solidFill>
                  <a:srgbClr val="FFFFFF"/>
                </a:solidFill>
                <a:latin typeface="Georgia"/>
              </a:rPr>
              <a:t>Forward Deployed Engineers — inside your team, not across a contract.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9AA0AA"/>
                </a:solidFill>
                <a:latin typeface="Arial"/>
              </a:rPr>
              <a:t>Building dependable agents requires deep context about your workflows, systems and risk. We embed senior AI engineers directly into your company — in your repos, your data, your roadmap — until the agentic system is live and your team owns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371600"/>
            <a:ext cx="4754880" cy="9525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276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0AA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627632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Embedded from day one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9AA0AA"/>
                </a:solidFill>
                <a:latin typeface="Arial"/>
              </a:rPr>
              <a:t>Your stack, your tickets, your rituals — not a vendor on a status 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587752"/>
            <a:ext cx="4754880" cy="9525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7980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0AA"/>
                </a:solidFill>
                <a:latin typeface="Courier New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798064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Ships production code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9AA0AA"/>
                </a:solidFill>
                <a:latin typeface="Arial"/>
              </a:rPr>
              <a:t>Agents and evaluations that land in your repo and run against real traffic.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758184"/>
            <a:ext cx="4754880" cy="9525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684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0AA"/>
                </a:solidFill>
                <a:latin typeface="Courier New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968496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Weeks to first value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9AA0AA"/>
                </a:solidFill>
                <a:latin typeface="Arial"/>
              </a:rPr>
              <a:t>A narrow use case goes live early, while the wider roadmap is still forming.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928616"/>
            <a:ext cx="4754880" cy="9525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51389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0AA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38928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Built to hand over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9AA0AA"/>
                </a:solidFill>
                <a:latin typeface="Arial"/>
              </a:rPr>
              <a:t>Knowledge transfer is the deliverable. Scale us up or down as you need.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6099048"/>
            <a:ext cx="4754880" cy="9525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A"/>
                </a:solidFill>
                <a:latin typeface="Courier New"/>
              </a:rPr>
              <a:t>matrion.in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A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757F"/>
                </a:solidFill>
                <a:latin typeface="Courier New"/>
              </a:rPr>
              <a:t>04 /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12151A"/>
                </a:solidFill>
                <a:latin typeface="Georgia"/>
              </a:rPr>
              <a:t>Something real in production inside a month.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A4048"/>
                </a:solidFill>
                <a:latin typeface="Arial"/>
              </a:rPr>
              <a:t>The measurement comes first, and a narrow slice reaches production before the roadmap widens.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743200"/>
            <a:ext cx="10637215" cy="12700"/>
          </a:xfrm>
          <a:prstGeom prst="rect">
            <a:avLst/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DE0"/>
                </a:solidFill>
                <a:latin typeface="Courier New"/>
              </a:rPr>
              <a:t>WEEK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01568"/>
            <a:ext cx="2514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0">
                <a:solidFill>
                  <a:srgbClr val="12151A"/>
                </a:solidFill>
                <a:latin typeface="Georgia"/>
              </a:rPr>
              <a:t>Scope and baseline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One workflow with a real owner and a measurable outcome. The evaluation set is built before the agent, so “better” is defined before anything 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4778" y="29718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DE0"/>
                </a:solidFill>
                <a:latin typeface="Courier New"/>
              </a:rPr>
              <a:t>WEEKS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4778" y="3401568"/>
            <a:ext cx="2514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0">
                <a:solidFill>
                  <a:srgbClr val="12151A"/>
                </a:solidFill>
                <a:latin typeface="Georgia"/>
              </a:rPr>
              <a:t>Thin slice to production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The narrowest useful version running against real traffic behind approval gates — with tracing, cost controls and a rollback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316" y="29718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DE0"/>
                </a:solidFill>
                <a:latin typeface="Courier New"/>
              </a:rPr>
              <a:t>WEEKS 4–10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2316" y="3401568"/>
            <a:ext cx="2514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0">
                <a:solidFill>
                  <a:srgbClr val="12151A"/>
                </a:solidFill>
                <a:latin typeface="Georgia"/>
              </a:rPr>
              <a:t>Harden and widen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Coverage expands as the evaluations hold. Failure handling, permissions and regression tests grow with the surface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9855" y="29718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DE0"/>
                </a:solidFill>
                <a:latin typeface="Courier New"/>
              </a:rPr>
              <a:t>ONGOING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9855" y="3401568"/>
            <a:ext cx="2514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0">
                <a:solidFill>
                  <a:srgbClr val="12151A"/>
                </a:solidFill>
                <a:latin typeface="Georgia"/>
              </a:rPr>
              <a:t>Operate and hand over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Your engineers take ownership with the harness, runbooks and evaluation suite intact. We scale down as your team scales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matrion.in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757F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757F"/>
                </a:solidFill>
                <a:latin typeface="Courier New"/>
              </a:rPr>
              <a:t>05 /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12151A"/>
                </a:solidFill>
                <a:latin typeface="Georgia"/>
              </a:rPr>
              <a:t>AI that shows up in the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A4048"/>
                </a:solidFill>
                <a:latin typeface="Arial"/>
              </a:rPr>
              <a:t>We build agentic systems to move business metrics — revenue, cycle time, cost to serve — and to put real AI capability inside the product your customers already pay for.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33472"/>
            <a:ext cx="10637215" cy="12700"/>
          </a:xfrm>
          <a:prstGeom prst="rect">
            <a:avLst/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163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DE0"/>
                </a:solidFill>
                <a:latin typeface="Courier New"/>
              </a:rPr>
              <a:t>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7977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2151A"/>
                </a:solidFill>
                <a:latin typeface="Georgia"/>
              </a:rPr>
              <a:t>Growth from AI in your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798064"/>
            <a:ext cx="5715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Agentic capability embedded into your own product surface, so it becomes a reason customers choose you and a reason they stay — not a line item parked in next year's roadmap.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93008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210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DE0"/>
                </a:solidFill>
                <a:latin typeface="Courier New"/>
              </a:rPr>
              <a:t>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58444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2151A"/>
                </a:solidFill>
                <a:latin typeface="Georgia"/>
              </a:rPr>
              <a:t>Productivity your team feels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602736"/>
            <a:ext cx="5715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Agents absorb the repetitive operational load — research, triage, reconciliation, documentation — so your people spend their hours on judgment instead of throughput.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2569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DE0"/>
                </a:solidFill>
                <a:latin typeface="Courier New"/>
              </a:rP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38912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2151A"/>
                </a:solidFill>
                <a:latin typeface="Georgia"/>
              </a:rPr>
              <a:t>Speed to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407408"/>
            <a:ext cx="5715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Weeks, not quarters. A narrow slice reaches production early, so the business compounds returns while the wider roadmap is still being built.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102352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DE0"/>
                </a:solidFill>
                <a:latin typeface="Courier New"/>
              </a:rPr>
              <a:t>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93792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2151A"/>
                </a:solidFill>
                <a:latin typeface="Georgia"/>
              </a:rPr>
              <a:t>Trust that travels with the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212080"/>
            <a:ext cx="5715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4048"/>
                </a:solidFill>
                <a:latin typeface="Arial"/>
              </a:rPr>
              <a:t>Traceable decisions, retained evidence and human oversight built in from the first commit — so DPDP, the EU AI Act and ISO/IEC 42001 are satisfied as a by-product of delivery, never a separate programme.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matrion.in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757F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757F"/>
                </a:solidFill>
                <a:latin typeface="Courier New"/>
              </a:rPr>
              <a:t>06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12151A"/>
                </a:solidFill>
                <a:latin typeface="Georgia"/>
              </a:rPr>
              <a:t>The stack we build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A4048"/>
                </a:solidFill>
                <a:latin typeface="Arial"/>
              </a:rPr>
              <a:t>Model- and cloud-agnostic by design. We choose per workload against your constraints — latency, cost, data residency and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578608"/>
            <a:ext cx="10637215" cy="12700"/>
          </a:xfrm>
          <a:prstGeom prst="rect">
            <a:avLst/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0662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2151A"/>
                </a:solidFill>
                <a:latin typeface="Georgia"/>
              </a:rPr>
              <a:t>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73405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048"/>
                </a:solidFill>
                <a:latin typeface="Courier New"/>
              </a:rPr>
              <a:t>Frontier tier — Claude / GPT / Gemini  ·  Open-weight — Llama, Qwen, DeepSeek, Mistral — for self-hosting and residency  ·  Routed per 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099816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954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2151A"/>
                </a:solidFill>
                <a:latin typeface="Georgia"/>
              </a:rPr>
              <a:t>Agent runtimes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3697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048"/>
                </a:solidFill>
                <a:latin typeface="Courier New"/>
              </a:rPr>
              <a:t>Claude Agent SDK  ·  OpenAI Agents SDK  ·  Microsoft Agent Framework  ·  Google ADK  ·  Purpose-built harnesses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02736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1246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2151A"/>
                </a:solidFill>
                <a:latin typeface="Georgia"/>
              </a:rPr>
              <a:t>Interoperability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73989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048"/>
                </a:solidFill>
                <a:latin typeface="Courier New"/>
              </a:rPr>
              <a:t>MCP — agent to tools and data  ·  A2A — agent to agent  ·  Both under the Linux Foundation  ·  Typed tool contracts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05656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1538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2151A"/>
                </a:solidFill>
                <a:latin typeface="Georgia"/>
              </a:rPr>
              <a:t>Context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24281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048"/>
                </a:solidFill>
                <a:latin typeface="Courier New"/>
              </a:rPr>
              <a:t>Retrieval (RAG)  ·  Compaction  ·  Tool-result clearing  ·  Long-horizon memory  ·  Permission-aware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608576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1830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2151A"/>
                </a:solidFill>
                <a:latin typeface="Georgia"/>
              </a:rPr>
              <a:t>Evaluation &amp;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74573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048"/>
                </a:solidFill>
                <a:latin typeface="Courier New"/>
              </a:rPr>
              <a:t>LangSmith  ·  Braintrust  ·  Langfuse  ·  Arize Phoenix  ·  W&amp;B Weave  ·  OpenTelemetry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111496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2122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2151A"/>
                </a:solidFill>
                <a:latin typeface="Georgia"/>
              </a:rPr>
              <a:t>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24865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048"/>
                </a:solidFill>
                <a:latin typeface="Courier New"/>
              </a:rPr>
              <a:t>Typed graph workflows  ·  Durable execution  ·  Checkpointing  ·  Human-in-the-loop gates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614416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72414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2151A"/>
                </a:solidFill>
                <a:latin typeface="Georgia"/>
              </a:rPr>
              <a:t>Serving &amp;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75157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048"/>
                </a:solidFill>
                <a:latin typeface="Courier New"/>
              </a:rPr>
              <a:t>vLLM  ·  AWS Bedrock  ·  Google Vertex AI  ·  Azure AI Foundry  ·  Prompt caching and batch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117336"/>
            <a:ext cx="10637215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matrion.in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757F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757F"/>
                </a:solidFill>
                <a:latin typeface="Courier New"/>
              </a:rPr>
              <a:t>07 / WHY MATRION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5852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0">
                <a:solidFill>
                  <a:srgbClr val="12151A"/>
                </a:solidFill>
                <a:latin typeface="Georgia"/>
              </a:rPr>
              <a:t>The people who built AI platforms at the world's largest technology companies — working directly on your problem, not managing a team that does.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463040"/>
            <a:ext cx="4572000" cy="12700"/>
          </a:xfrm>
          <a:prstGeom prst="rect">
            <a:avLst/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6459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TALENT HIRED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653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2151A"/>
                </a:solidFill>
                <a:latin typeface="Georgia"/>
              </a:rPr>
              <a:t>Top-10 product companies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2212848"/>
            <a:ext cx="457200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3591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ENGAGEMENT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578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2151A"/>
                </a:solidFill>
                <a:latin typeface="Georgia"/>
              </a:rPr>
              <a:t>Embedded, not arms-length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926080"/>
            <a:ext cx="457200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307238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DELIVERED 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91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2151A"/>
                </a:solidFill>
                <a:latin typeface="Georgia"/>
              </a:rPr>
              <a:t>Production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639312"/>
            <a:ext cx="457200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78561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DEFINITION OF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05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2151A"/>
                </a:solidFill>
                <a:latin typeface="Georgia"/>
              </a:rPr>
              <a:t>Evaluations passing in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352544"/>
            <a:ext cx="457200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4988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7183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2151A"/>
                </a:solidFill>
                <a:latin typeface="Georgia"/>
              </a:rPr>
              <a:t>GCP · AWS · Azure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065776"/>
            <a:ext cx="4572000" cy="952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5852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6E757F"/>
                </a:solidFill>
                <a:latin typeface="Courier New"/>
              </a:rPr>
              <a:t>AI EXPERTS FROM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2151A"/>
                </a:solidFill>
                <a:latin typeface="Georgia"/>
              </a:rPr>
              <a:t>Google Cloud AI  ·  Amazon  ·  Sears  ·  a security startup acquired by McAfee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757F"/>
                </a:solidFill>
                <a:latin typeface="Courier New"/>
              </a:rPr>
              <a:t>matrion.in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757F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A0AA"/>
                </a:solidFill>
                <a:latin typeface="Courier New"/>
              </a:rPr>
              <a:t>08 /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686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FFFFFF"/>
                </a:solidFill>
                <a:latin typeface="Georgia"/>
              </a:rPr>
              <a:t>Let's put agents to work on your hardest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0AA"/>
                </a:solidFill>
                <a:latin typeface="Arial"/>
              </a:rPr>
              <a:t>A 30-minute call to identify where an agentic system creates real leverage — and a straight answer on whether the workflow is ready. If it is, we can have an engineer embedded within weeks.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074920"/>
            <a:ext cx="10637215" cy="9525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A"/>
                </a:solidFill>
                <a:latin typeface="Courier New"/>
              </a:rPr>
              <a:t>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info@matrion.in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6543" y="53492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A"/>
                </a:solidFill>
                <a:latin typeface="Courier New"/>
              </a:rPr>
              <a:t>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6543" y="56235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+91 98455 76009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53492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A"/>
                </a:solidFill>
                <a:latin typeface="Courier New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56235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matrion.in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5151" y="53492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A"/>
                </a:solidFill>
                <a:latin typeface="Courier New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5151" y="56235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Agentic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A"/>
                </a:solidFill>
                <a:latin typeface="Courier New"/>
              </a:rPr>
              <a:t>© 2026 Matrion  ·  Agentic Systems · Products ·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